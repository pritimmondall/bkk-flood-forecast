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09728" cy="29260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4A9EFF"/>
                </a:solidFill>
              </a:defRPr>
            </a:pPr>
            <a:r>
              <a:t>BANGKOK FLOOD FORECAST SYSTEM</a:t>
            </a:r>
          </a:p>
          <a:p>
            <a:pPr>
              <a:spcAft>
                <a:spcPts val="1500"/>
              </a:spcAft>
              <a:defRPr sz="3600" b="1">
                <a:solidFill>
                  <a:srgbClr val="E6EDF3"/>
                </a:solidFill>
              </a:defRPr>
            </a:pPr>
            <a:r>
              <a:t>Project Progress &amp; Delivery Roadmap</a:t>
            </a:r>
          </a:p>
          <a:p>
            <a:pPr>
              <a:spcAft>
                <a:spcPts val="3000"/>
              </a:spcAft>
              <a:defRPr sz="1600">
                <a:solidFill>
                  <a:srgbClr val="8B98A5"/>
                </a:solidFill>
              </a:defRPr>
            </a:pPr>
            <a:r>
              <a:t>ML-Powered Road Flood Forecasting, Live API Integration &amp; Target Completion Schedule</a:t>
            </a:r>
          </a:p>
          <a:p>
            <a:pPr>
              <a:defRPr sz="1200" b="1">
                <a:solidFill>
                  <a:srgbClr val="3AB795"/>
                </a:solidFill>
              </a:defRPr>
            </a:pPr>
            <a:r>
              <a:t>Target Final Completion: August 24–28, 2026  |  Current Status: Phase 10 (Live Pipeline Completed)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9EFF"/>
                </a:solidFill>
              </a:defRPr>
            </a:pPr>
            <a:r>
              <a:t>BANGKOK FLOOD FORECAST V3.0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EDF3"/>
                </a:solidFill>
              </a:defRPr>
            </a:pPr>
            <a:r>
              <a:t>Executive Summary: Project Status &amp; Target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1A202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E6EDF3"/>
                </a:solidFill>
              </a:defRPr>
            </a:pPr>
            <a:r>
              <a:t>Core ML &amp; Replay Ready</a:t>
            </a:r>
          </a:p>
          <a:p>
            <a:pPr>
              <a:spcAft>
                <a:spcPts val="1500"/>
              </a:spcAft>
              <a:defRPr sz="2400" b="1">
                <a:solidFill>
                  <a:srgbClr val="4A9EFF"/>
                </a:solidFill>
              </a:defRPr>
            </a:pPr>
            <a:r>
              <a:t>53.3% Event POD</a:t>
            </a:r>
          </a:p>
          <a:p>
            <a:pPr>
              <a:defRPr sz="1300">
                <a:solidFill>
                  <a:srgbClr val="8B98A5"/>
                </a:solidFill>
              </a:defRPr>
            </a:pPr>
            <a:r>
              <a:t>Trained LightGBM onset models achieve 53.3% event POD on 7 years of BMA historical data (2019-2025), accurately predicting road flooding 1-6h ahead.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383280" cy="4754880"/>
          </a:xfrm>
          <a:prstGeom prst="roundRect">
            <a:avLst/>
          </a:prstGeom>
          <a:solidFill>
            <a:srgbClr val="1A202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E6EDF3"/>
                </a:solidFill>
              </a:defRPr>
            </a:pPr>
            <a:r>
              <a:t>Live Pipeline Deployed</a:t>
            </a:r>
          </a:p>
          <a:p>
            <a:pPr>
              <a:spcAft>
                <a:spcPts val="1500"/>
              </a:spcAft>
              <a:defRPr sz="2400" b="1">
                <a:solidFill>
                  <a:srgbClr val="FF6B35"/>
                </a:solidFill>
              </a:defRPr>
            </a:pPr>
            <a:r>
              <a:t>Dual-Mode Serving</a:t>
            </a:r>
          </a:p>
          <a:p>
            <a:pPr>
              <a:defRPr sz="1300">
                <a:solidFill>
                  <a:srgbClr val="8B98A5"/>
                </a:solidFill>
              </a:defRPr>
            </a:pPr>
            <a:r>
              <a:t>Built real-time data ingestion for ThaiWater, Open-Meteo GFS, and Traffy Fondue. Served side-by-side with Replay mode in backend API &amp;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371600"/>
            <a:ext cx="3383280" cy="4754880"/>
          </a:xfrm>
          <a:prstGeom prst="roundRect">
            <a:avLst/>
          </a:prstGeom>
          <a:solidFill>
            <a:srgbClr val="1A202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9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E6EDF3"/>
                </a:solidFill>
              </a:defRPr>
            </a:pPr>
            <a:r>
              <a:t>Final Completion Window</a:t>
            </a:r>
          </a:p>
          <a:p>
            <a:pPr>
              <a:spcAft>
                <a:spcPts val="1500"/>
              </a:spcAft>
              <a:defRPr sz="2400" b="1">
                <a:solidFill>
                  <a:srgbClr val="3AB795"/>
                </a:solidFill>
              </a:defRPr>
            </a:pPr>
            <a:r>
              <a:t>August 24–28, 2026</a:t>
            </a:r>
          </a:p>
          <a:p>
            <a:pPr>
              <a:defRPr sz="1300">
                <a:solidFill>
                  <a:srgbClr val="8B98A5"/>
                </a:solidFill>
              </a:defRPr>
            </a:pPr>
            <a:r>
              <a:t>On schedule for final model sign-off, high-resolution GFS downscaling, BMA live integration testing, and system handover.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9EFF"/>
                </a:solidFill>
              </a:defRPr>
            </a:pPr>
            <a:r>
              <a:t>BANGKOK FLOOD FORECAST V3.0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EDF3"/>
                </a:solidFill>
              </a:defRPr>
            </a:pPr>
            <a:r>
              <a:t>Major Accomplishments Completed To 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2286000"/>
          </a:xfrm>
          <a:prstGeom prst="roundRect">
            <a:avLst/>
          </a:prstGeom>
          <a:solidFill>
            <a:srgbClr val="1A202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A9EFF"/>
                </a:solidFill>
              </a:defRPr>
            </a:pPr>
            <a:r>
              <a:t>1. Data Ingestion &amp; Quality  |  Phases 0 - 2</a:t>
            </a:r>
          </a:p>
          <a:p>
            <a:pPr>
              <a:spcAft>
                <a:spcPts val="400"/>
              </a:spcAft>
              <a:defRPr sz="1200">
                <a:solidFill>
                  <a:srgbClr val="E6EDF3"/>
                </a:solidFill>
              </a:defRPr>
            </a:pPr>
            <a:r>
              <a:t>•  Ingested 7 years (2019-2025) of BMA raw sensor data.</a:t>
            </a:r>
          </a:p>
          <a:p>
            <a:pPr>
              <a:spcAft>
                <a:spcPts val="400"/>
              </a:spcAft>
              <a:defRPr sz="1200">
                <a:solidFill>
                  <a:srgbClr val="E6EDF3"/>
                </a:solidFill>
              </a:defRPr>
            </a:pPr>
            <a:r>
              <a:t>•  Covering 131 rain gauges, 300 canal sensors, 107 road sensors.</a:t>
            </a:r>
          </a:p>
          <a:p>
            <a:pPr>
              <a:spcAft>
                <a:spcPts val="400"/>
              </a:spcAft>
              <a:defRPr sz="1200">
                <a:solidFill>
                  <a:srgbClr val="E6EDF3"/>
                </a:solidFill>
              </a:defRPr>
            </a:pPr>
            <a:r>
              <a:t>•  Engineered quality scorecards &amp; defined 837 true flood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212080" cy="2286000"/>
          </a:xfrm>
          <a:prstGeom prst="roundRect">
            <a:avLst/>
          </a:prstGeom>
          <a:solidFill>
            <a:srgbClr val="1A202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17319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A9EFF"/>
                </a:solidFill>
              </a:defRPr>
            </a:pPr>
            <a:r>
              <a:t>2. Spatial &amp; External Modeling  |  Phases 3 - 4</a:t>
            </a:r>
          </a:p>
          <a:p>
            <a:pPr>
              <a:spcAft>
                <a:spcPts val="400"/>
              </a:spcAft>
              <a:defRPr sz="1200">
                <a:solidFill>
                  <a:srgbClr val="E6EDF3"/>
                </a:solidFill>
              </a:defRPr>
            </a:pPr>
            <a:r>
              <a:t>•  Processed 1m DTM elevation, depression depth &amp; TWI.</a:t>
            </a:r>
          </a:p>
          <a:p>
            <a:pPr>
              <a:spcAft>
                <a:spcPts val="400"/>
              </a:spcAft>
              <a:defRPr sz="1200">
                <a:solidFill>
                  <a:srgbClr val="E6EDF3"/>
                </a:solidFill>
              </a:defRPr>
            </a:pPr>
            <a:r>
              <a:t>•  Integrated Open-Meteo GFS forecast rain (13km grid) &amp; ERA5.</a:t>
            </a:r>
          </a:p>
          <a:p>
            <a:pPr>
              <a:spcAft>
                <a:spcPts val="400"/>
              </a:spcAft>
              <a:defRPr sz="1200">
                <a:solidFill>
                  <a:srgbClr val="E6EDF3"/>
                </a:solidFill>
              </a:defRPr>
            </a:pPr>
            <a:r>
              <a:t>•  Engineered 50 model-ready features with strict zero-leakage.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212080" cy="2286000"/>
          </a:xfrm>
          <a:prstGeom prst="roundRect">
            <a:avLst/>
          </a:prstGeom>
          <a:solidFill>
            <a:srgbClr val="1A202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A9EFF"/>
                </a:solidFill>
              </a:defRPr>
            </a:pPr>
            <a:r>
              <a:t>3. LightGBM ML &amp; Calibration  |  Phases 5 &amp; 8</a:t>
            </a:r>
          </a:p>
          <a:p>
            <a:pPr>
              <a:spcAft>
                <a:spcPts val="400"/>
              </a:spcAft>
              <a:defRPr sz="1200">
                <a:solidFill>
                  <a:srgbClr val="E6EDF3"/>
                </a:solidFill>
              </a:defRPr>
            </a:pPr>
            <a:r>
              <a:t>•  Trained LightGBM onset specialists across 1, 3, 6h horizons.</a:t>
            </a:r>
          </a:p>
          <a:p>
            <a:pPr>
              <a:spcAft>
                <a:spcPts val="400"/>
              </a:spcAft>
              <a:defRPr sz="1200">
                <a:solidFill>
                  <a:srgbClr val="E6EDF3"/>
                </a:solidFill>
              </a:defRPr>
            </a:pPr>
            <a:r>
              <a:t>•  Achieved 53.3% Event POD on test year 2025 (Replay mode).</a:t>
            </a:r>
          </a:p>
          <a:p>
            <a:pPr>
              <a:spcAft>
                <a:spcPts val="400"/>
              </a:spcAft>
              <a:defRPr sz="1200">
                <a:solidFill>
                  <a:srgbClr val="E6EDF3"/>
                </a:solidFill>
              </a:defRPr>
            </a:pPr>
            <a:r>
              <a:t>•  Calibrated probabilities &amp; enforced strict CAP alert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749039"/>
            <a:ext cx="5212080" cy="2286000"/>
          </a:xfrm>
          <a:prstGeom prst="roundRect">
            <a:avLst/>
          </a:prstGeom>
          <a:solidFill>
            <a:srgbClr val="1A202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886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A9EFF"/>
                </a:solidFill>
              </a:defRPr>
            </a:pPr>
            <a:r>
              <a:t>4. Live Dual-Mode Architecture  |  Phase 10 (Recent)</a:t>
            </a:r>
          </a:p>
          <a:p>
            <a:pPr>
              <a:spcAft>
                <a:spcPts val="400"/>
              </a:spcAft>
              <a:defRPr sz="1200">
                <a:solidFill>
                  <a:srgbClr val="E6EDF3"/>
                </a:solidFill>
              </a:defRPr>
            </a:pPr>
            <a:r>
              <a:t>•  Built src/bkkflood/live.py feature assembly pipeline.</a:t>
            </a:r>
          </a:p>
          <a:p>
            <a:pPr>
              <a:spcAft>
                <a:spcPts val="400"/>
              </a:spcAft>
              <a:defRPr sz="1200">
                <a:solidFill>
                  <a:srgbClr val="E6EDF3"/>
                </a:solidFill>
              </a:defRPr>
            </a:pPr>
            <a:r>
              <a:t>•  Integrated live ThaiWater, GFS forecast &amp; Traffy Fondue feeds.</a:t>
            </a:r>
          </a:p>
          <a:p>
            <a:pPr>
              <a:spcAft>
                <a:spcPts val="400"/>
              </a:spcAft>
              <a:defRPr sz="1200">
                <a:solidFill>
                  <a:srgbClr val="E6EDF3"/>
                </a:solidFill>
              </a:defRPr>
            </a:pPr>
            <a:r>
              <a:t>•  Deployed live/replay mode toggle in API &amp; React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9EFF"/>
                </a:solidFill>
              </a:defRPr>
            </a:pPr>
            <a:r>
              <a:t>BANGKOK FLOOD FORECAST V3.0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EDF3"/>
                </a:solidFill>
              </a:defRPr>
            </a:pPr>
            <a:r>
              <a:t>Live Forecast Capabilities &amp; Input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486400" cy="4846320"/>
          </a:xfrm>
          <a:prstGeom prst="roundRect">
            <a:avLst/>
          </a:prstGeom>
          <a:solidFill>
            <a:srgbClr val="1A202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E6EDF3"/>
                </a:solidFill>
              </a:defRPr>
            </a:pPr>
            <a:r>
              <a:t>Measured Performance Comparison</a:t>
            </a:r>
          </a:p>
          <a:p>
            <a:pPr>
              <a:defRPr sz="1300">
                <a:solidFill>
                  <a:srgbClr val="8B98A5"/>
                </a:solidFill>
              </a:defRPr>
            </a:pPr>
            <a:r>
              <a:t>• Historical Replay Mode: 53.3% Event POD</a:t>
            </a:r>
            <a:br/>
            <a:r>
              <a:t>  Uses 7-year archive of BMA 131 rain gauges &amp; road sensors.</a:t>
            </a:r>
            <a:br/>
            <a:br/>
            <a:r>
              <a:t>• Current Public Live Mode: 4.9% Event POD</a:t>
            </a:r>
            <a:br/>
            <a:r>
              <a:t>  Uses public ThaiWater canal + Open-Meteo GFS 13km rain grid.</a:t>
            </a:r>
            <a:br/>
            <a:br/>
            <a:r>
              <a:t>• Key Experimental Insight:</a:t>
            </a:r>
            <a:br/>
            <a:r>
              <a:t>  Road sensors are NOT essential (removing them yields 45.1% POD).</a:t>
            </a:r>
            <a:br/>
            <a:r>
              <a:t>  The single irreplaceable gap is BMA's 131 Live Rain Gauges.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280160"/>
            <a:ext cx="4937760" cy="4846320"/>
          </a:xfrm>
          <a:prstGeom prst="roundRect">
            <a:avLst/>
          </a:prstGeom>
          <a:solidFill>
            <a:srgbClr val="1A202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FF6B35"/>
                </a:solidFill>
              </a:defRPr>
            </a:pPr>
            <a:r>
              <a:t>Action Plan for Live Precision Boost</a:t>
            </a:r>
          </a:p>
          <a:p>
            <a:pPr>
              <a:defRPr sz="1300">
                <a:solidFill>
                  <a:srgbClr val="E6EDF3"/>
                </a:solidFill>
              </a:defRPr>
            </a:pPr>
            <a:r>
              <a:t>1. Request Live BMA Rain Gauge Feed</a:t>
            </a:r>
            <a:br/>
            <a:r>
              <a:t>   Direct access to BMA's 131 rain gauges (5-min cadence)</a:t>
            </a:r>
            <a:br/>
            <a:r>
              <a:t>   will instantly boost live detection from 5% to ~45% POD.</a:t>
            </a:r>
            <a:br/>
            <a:br/>
            <a:r>
              <a:t>2. GFS Spatial Downscaling (1-km Grid)</a:t>
            </a:r>
            <a:br/>
            <a:r>
              <a:t>   Downscale GFS 13-28km global grid to 1-km resolution to</a:t>
            </a:r>
            <a:br/>
            <a:r>
              <a:t>   capture localized 2-5km Bangkok convective storm cells.</a:t>
            </a:r>
            <a:br/>
            <a:br/>
            <a:r>
              <a:t>3. Live Sensor Coordinates</a:t>
            </a:r>
            <a:br/>
            <a:r>
              <a:t>   Map exact GPS positions for 300 canal sensors to enable</a:t>
            </a:r>
            <a:br/>
            <a:r>
              <a:t>   local district-level spatial joins.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9EFF"/>
                </a:solidFill>
              </a:defRPr>
            </a:pPr>
            <a:r>
              <a:t>BANGKOK FLOOD FORECAST V3.0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EDF3"/>
                </a:solidFill>
              </a:defRPr>
            </a:pPr>
            <a:r>
              <a:t>Target Completion Timeline: August 24–28,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14600" cy="4754880"/>
          </a:xfrm>
          <a:prstGeom prst="roundRect">
            <a:avLst/>
          </a:prstGeom>
          <a:solidFill>
            <a:srgbClr val="1A202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2331720" cy="640080"/>
          </a:xfrm>
          <a:prstGeom prst="round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419"/>
                </a:solidFill>
              </a:defRPr>
            </a:pPr>
            <a:r>
              <a:t>Phase A: Aug 12–15</a:t>
            </a:r>
          </a:p>
          <a:p>
            <a:pPr algn="ctr">
              <a:defRPr sz="1000">
                <a:solidFill>
                  <a:srgbClr val="0F1419"/>
                </a:solidFill>
              </a:defRPr>
            </a:pPr>
            <a:r>
              <a:t>GFS Downscaling &amp; API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6EDF3"/>
                </a:solidFill>
              </a:defRPr>
            </a:pPr>
            <a:r>
              <a:t>• Build GFS 1-km spatial downscaling prototype.</a:t>
            </a:r>
          </a:p>
          <a:p>
            <a:pPr>
              <a:spcAft>
                <a:spcPts val="800"/>
              </a:spcAft>
              <a:defRPr sz="1100">
                <a:solidFill>
                  <a:srgbClr val="E6EDF3"/>
                </a:solidFill>
              </a:defRPr>
            </a:pPr>
            <a:r>
              <a:t>• Submit formal request for BMA live rain gauge feed.</a:t>
            </a:r>
          </a:p>
          <a:p>
            <a:pPr>
              <a:spcAft>
                <a:spcPts val="800"/>
              </a:spcAft>
              <a:defRPr sz="1100">
                <a:solidFill>
                  <a:srgbClr val="E6EDF3"/>
                </a:solidFill>
              </a:defRPr>
            </a:pPr>
            <a:r>
              <a:t>• Test high-res rainfall input ingestion.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14600" cy="4754880"/>
          </a:xfrm>
          <a:prstGeom prst="roundRect">
            <a:avLst/>
          </a:prstGeom>
          <a:solidFill>
            <a:srgbClr val="1A202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0440" y="1463040"/>
            <a:ext cx="2331720" cy="640080"/>
          </a:xfrm>
          <a:prstGeom prst="round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419"/>
                </a:solidFill>
              </a:defRPr>
            </a:pPr>
            <a:r>
              <a:t>Phase B: Aug 16–19</a:t>
            </a:r>
          </a:p>
          <a:p>
            <a:pPr algn="ctr">
              <a:defRPr sz="1000">
                <a:solidFill>
                  <a:srgbClr val="0F1419"/>
                </a:solidFill>
              </a:defRPr>
            </a:pPr>
            <a:r>
              <a:t>Sequence Model &amp; DB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6EDF3"/>
                </a:solidFill>
              </a:defRPr>
            </a:pPr>
            <a:r>
              <a:t>• Integrate Phase 6 LSTM sequence model baseline.</a:t>
            </a:r>
          </a:p>
          <a:p>
            <a:pPr>
              <a:spcAft>
                <a:spcPts val="800"/>
              </a:spcAft>
              <a:defRPr sz="1100">
                <a:solidFill>
                  <a:srgbClr val="E6EDF3"/>
                </a:solidFill>
              </a:defRPr>
            </a:pPr>
            <a:r>
              <a:t>• Finalize PostgreSQL / PostGIS database schema.</a:t>
            </a:r>
          </a:p>
          <a:p>
            <a:pPr>
              <a:spcAft>
                <a:spcPts val="800"/>
              </a:spcAft>
              <a:defRPr sz="1100">
                <a:solidFill>
                  <a:srgbClr val="E6EDF3"/>
                </a:solidFill>
              </a:defRPr>
            </a:pPr>
            <a:r>
              <a:t>• Perform full backend load &amp; stress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514600" cy="4754880"/>
          </a:xfrm>
          <a:prstGeom prst="roundRect">
            <a:avLst/>
          </a:prstGeom>
          <a:solidFill>
            <a:srgbClr val="1A202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331720" cy="6400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419"/>
                </a:solidFill>
              </a:defRPr>
            </a:pPr>
            <a:r>
              <a:t>Phase C: Aug 20–23</a:t>
            </a:r>
          </a:p>
          <a:p>
            <a:pPr algn="ctr">
              <a:defRPr sz="1000">
                <a:solidFill>
                  <a:srgbClr val="0F1419"/>
                </a:solidFill>
              </a:defRPr>
            </a:pPr>
            <a:r>
              <a:t>Sandbox &amp; Integration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9456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6EDF3"/>
                </a:solidFill>
              </a:defRPr>
            </a:pPr>
            <a:r>
              <a:t>• End-to-end sandbox testing with live collectors.</a:t>
            </a:r>
          </a:p>
          <a:p>
            <a:pPr>
              <a:spcAft>
                <a:spcPts val="800"/>
              </a:spcAft>
              <a:defRPr sz="1100">
                <a:solidFill>
                  <a:srgbClr val="E6EDF3"/>
                </a:solidFill>
              </a:defRPr>
            </a:pPr>
            <a:r>
              <a:t>• Verify CAP 1.2 alert generation reliability.</a:t>
            </a:r>
          </a:p>
          <a:p>
            <a:pPr>
              <a:spcAft>
                <a:spcPts val="800"/>
              </a:spcAft>
              <a:defRPr sz="1100">
                <a:solidFill>
                  <a:srgbClr val="E6EDF3"/>
                </a:solidFill>
              </a:defRPr>
            </a:pPr>
            <a:r>
              <a:t>• User acceptance testing &amp; UI dashboard refinement.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371600"/>
            <a:ext cx="2514600" cy="4754880"/>
          </a:xfrm>
          <a:prstGeom prst="roundRect">
            <a:avLst/>
          </a:prstGeom>
          <a:solidFill>
            <a:srgbClr val="1A202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15400" y="1463040"/>
            <a:ext cx="2331720" cy="640080"/>
          </a:xfrm>
          <a:prstGeom prst="roundRect">
            <a:avLst/>
          </a:prstGeom>
          <a:solidFill>
            <a:srgbClr val="3AB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419"/>
                </a:solidFill>
              </a:defRPr>
            </a:pPr>
            <a:r>
              <a:t>Phase D: Aug 24–28</a:t>
            </a:r>
          </a:p>
          <a:p>
            <a:pPr algn="ctr">
              <a:defRPr sz="1000">
                <a:solidFill>
                  <a:srgbClr val="0F1419"/>
                </a:solidFill>
              </a:defRPr>
            </a:pPr>
            <a:r>
              <a:t>Final Sign-off &amp;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9456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6EDF3"/>
                </a:solidFill>
              </a:defRPr>
            </a:pPr>
            <a:r>
              <a:t>• Final model validation &amp; accuracy audit.</a:t>
            </a:r>
          </a:p>
          <a:p>
            <a:pPr>
              <a:spcAft>
                <a:spcPts val="800"/>
              </a:spcAft>
              <a:defRPr sz="1100">
                <a:solidFill>
                  <a:srgbClr val="E6EDF3"/>
                </a:solidFill>
              </a:defRPr>
            </a:pPr>
            <a:r>
              <a:t>• Full documentation &amp; handover package.</a:t>
            </a:r>
          </a:p>
          <a:p>
            <a:pPr>
              <a:spcAft>
                <a:spcPts val="800"/>
              </a:spcAft>
              <a:defRPr sz="1100">
                <a:solidFill>
                  <a:srgbClr val="E6EDF3"/>
                </a:solidFill>
              </a:defRPr>
            </a:pPr>
            <a:r>
              <a:t>• Production deployment &amp; official release.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